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3.jpg"/><Relationship Id="rId4" Type="http://schemas.openxmlformats.org/officeDocument/2006/relationships/image" Target="../media/image28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title-on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59" y="1584000"/>
            <a:ext cx="6840000" cy="205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104000"/>
            <a:ext cx="1219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 spc="400">
                <a:solidFill>
                  <a:srgbClr val="F4F1E8"/>
                </a:solidFill>
                <a:latin typeface="Hiragino Mincho ProN"/>
              </a:rPr>
              <a:t>紹介資料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644000"/>
            <a:ext cx="1219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spc="150">
                <a:solidFill>
                  <a:srgbClr val="A8A296"/>
                </a:solidFill>
                <a:latin typeface="Hiragino Mincho ProN"/>
              </a:rPr>
              <a:t>天文十五年（一五四六）四月　日本六十六州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699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4000" y="1655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257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213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" y="2545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決めごとの拠りどころ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815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2771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4000" y="3103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373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4000" y="3329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4000" y="3661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武将・知行・組頭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931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4000" y="3887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4000" y="4219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外交・旗の下・通行の掟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4489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4000" y="4445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4000" y="4777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59" y="1699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059" y="1655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059" y="1987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59" y="2257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059" y="2213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059" y="2545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官位・惣無事令・号令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59" y="2815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059" y="2771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59" y="3373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059" y="3329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059" y="3661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作りかけと、その先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59" y="3931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059" y="3887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059" y="42191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A8478"/>
                </a:solidFill>
                <a:latin typeface="Hiragino Sans"/>
              </a:rPr>
              <a:t>この盤で使う言葉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59" y="4489199"/>
            <a:ext cx="43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8478"/>
                </a:solidFill>
                <a:latin typeface="Hiragino Sans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059" y="4445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20" y="1584000"/>
            <a:ext cx="4793878" cy="469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起動の画面。記録所の枠を押せば、その盤から続けられる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「センゴク盤」は、天文十五年（一五四六）の日本を舞台にした戦国大名の遊びである。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遊ぶ側は百三十七家のいずれかの当主となり、月を送りながら国を富ませ、人を用い、隣と交わり、あるいは攻める。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天下に旗を立てるまで、あるいは家が絶えるまでが一局である。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盤には二百七十一の城と九百七十二人の武将がいる。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城には石高があり、石高は兵になり、兵は組に分かれ、組には長がいる。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数字の一つひとつに、そう決めた理由がある。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遊びは一枚の HTML で動く。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導入も、繋がりも要らない。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開けば始まり、記録はそのブラウザに残る。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271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七十国にわたる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大名家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すべて操作できる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武将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972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史実に伝わる者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家の石高に応じて立つ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039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039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8039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湊・市・寺社・鉱山など九種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4078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街道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4078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494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4078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長さは実際の km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総石高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1,258 万石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慶長三年の検地高の〇.六八倍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初めの間柄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敵対59・従属47・同盟18・不可侵16・臣従3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何が違うか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戦国を扱う遊びは数多い。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この盤が他と分かつのは、次の五つである。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何が違うか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盤の上で戦う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20339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合戦は結果の表示ではない。五十人ひと組の駒が地形を読み、道を選び、門を破り、崩れて退く。野戦・城攻め・海戦のいずれも、盤の上で最後まで動く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1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8403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数は事績から取る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28403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石高は慶長・元禄の検地高から、行軍は一日の里程から、参陣の隊数は関ヶ原から取った。他の遊びの数値は参照していない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5315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6467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名も無き者に名がある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6467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五十人組にはそれぞれ長がいる。討ち取るたびに手柄を重ね、十人長から物頭まで昇る。物頭に届けば、その者が武将として世に出る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43379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44531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旗の下という道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44531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すべてを攻め潰さずとも天下は取れる。従え、臣従させ、旗の下に収めるのも一つの道である。ただし、その差は「位」に出る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51443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52595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同じ種から同じ盤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6000" y="52595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賽は盤ごとの種から振る。時計を混ぜていないので、同じ記録からは同じ盤が出る。記録は必ず読み戻せる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この作品について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遊ぶための備え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一枚の HTML。ブラウザで開くだけで動く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3940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509200"/>
            <a:ext cx="2160000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509200"/>
            <a:ext cx="8160119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要らない。繋がりも要らない（一度読み込めば、以後は手元で動く）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32832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3398400"/>
            <a:ext cx="2160000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記録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398400"/>
            <a:ext cx="8160119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そのブラウザに残る（七枠）。書き出して他の端末へ移せる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1724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287600"/>
            <a:ext cx="2160000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画面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4287600"/>
            <a:ext cx="8160119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指でも鼠でも操れる。地図はつまんで拡げられる（十二倍まで）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0616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5176800"/>
            <a:ext cx="2160000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言葉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5176800"/>
            <a:ext cx="8160119" cy="81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日本語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決めごとの拠りどころ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一、事績から測る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数を決めるとき、拠りどころは史料に置いた。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他の遊びの数値は参照していない。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たとえば行軍である。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はじめ一月に四十六km としていた。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一日一.五km であり、軍勢どころか人の歩みですらない。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一、事績から測る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改めて、一月百三十km（一日四.三km）とした。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秀吉の中国大返しが十日で二百km 余、通常の行軍が一日四〜六km という記録に拠る。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石高もそうである。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天文十五年は検地の前であるから、慶長三年（一五九八）の検地高を「治水の届く限り」、元禄十年（一六九七）の高を「地の力そのもの」と置いた。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76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74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盤の総石高は千二百五十八万石で、慶長期の千八百六十万石の〇.六八倍にあたる。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一、事績から測る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検地の前であり新田も開かれていないのだから、この率は妥当と見ている。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参陣の隊数も、関ヶ原の東西両軍の備の数から三十二と定めた。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3／3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二、目安と縛りを分ける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「守るに要る兵」は目安であって、縛りではない。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城を空にして野に出るのも一つの決断である。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桶狭間の今川方も、姉川の浅井方も、城に兵を残して野に出た。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残さずに出た者もいる。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決めるのは遊ぶ側であって、掟ではない。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二、目安と縛りを分ける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縛るのは、物として尽きるものだけにした。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兵糧・金銭・人・時である。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「そこまでしか行けない」ではなく「そこまでしか持たない」で縛る。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三、采配は遊ぶ側を縛らない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野戦の引き際を例に取る。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兵が五分の一を切るか士気が尽きれば、采配を預かる軍は退く。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各隊も、兵が一割を切るか士気が尽きれば戦線を離れる。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しかしこれは采配（他家と、委ねた自軍）の話である。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手ずから指図している隊が、掟によって勝手に退くことはない。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三、采配は遊ぶ側を縛らない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全滅するまで押すのも遊ぶ側の決断である。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ただし「全軍委任」を選んだときは、敵と同じ判断で退く。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四、賽に時計を混ぜない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盤ごとに種を一つ持ち、賽はそこから振る。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時計を混ぜていないので、同じ記録からは必ず同じ盤が出る。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記録が読み戻せなくなることはない。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記録は圧して収めるので、七枠でも一.五MB ほどに収まる。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棚が一杯なら詰め直し、それでも入らなければ「入らない」と告げる。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作りの考え方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四、賽に時計を混ぜない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黙って消すことはない。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451" y="1584000"/>
            <a:ext cx="40852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城の帳。上に城の様子、右に武将、下に命令の並び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城の帳から武将を一人選んで命じる。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武将は月に一つの仕事にしか就けない。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費えは家の身代に応じて上下する（小さい家ほど安く済む）。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下知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効き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開墾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石高を増やす。政務の高い者ほど伸びる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705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治水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2705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石高の上限を伸ばす。民忠も少し上がる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377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商業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3377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商いを盛んにし、金銭の実入りを増やす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049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築城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4049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城防と耐久を上げる。城防は城門の堅さそのものである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721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訓練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6000" y="4721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地域家臣団と、在城の直属家臣団の練度を上げる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5393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徴募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000" y="5393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地域家臣団を増やす。人口と軍役の余力までしか集まらない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石高・軍役・銭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下知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効き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調略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近い敵城の民忠と城防を削る。知略の高い者ほど効く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4049999"/>
            <a:ext cx="2160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造船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4049999"/>
            <a:ext cx="816011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天正四年以降、湊か水軍衆を抱えた海の城で鉄甲船を造る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石高の三段（重要）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石高には天井が三つある。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一つの数で天井を作ると、開墾がすぐ頭打ちになるか、際限なく伸びるかのどちらかになってしまう。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段を三つに分けた。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石高の三段（重要）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203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何にあたるか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607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伸ばす手立て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033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田畑可能地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7999" y="2033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一.二五倍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2039" y="2033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いま開ける余地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6079" y="2033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開墾で埋める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3377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慶長の高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7999" y="3377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一.四七八倍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2039" y="3377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治水が届く限り＝慶長三年の検地高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079" y="3377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治水で広げる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721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元禄の高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7999" y="4721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二.〇五一倍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2039" y="4721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地の力そのもの＝元禄十年の検地高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6079" y="4721999"/>
            <a:ext cx="284004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一国を統一し、検地を行う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石高の三段（重要）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開墾は「田畑可能地」まで。治水はその可能地を「慶長の高」まで押し広げる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一国を残らず手中にすれば検地ができ、天井が「元禄の高」まで伸びる。伸びるのは天井であって、石高そのものではない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87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85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米そのものを通貨とする仕組み（米本位）は、今のところ入れていない。実入りは商いが主である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軍役と動員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抱えられる兵は石高で決まる。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一万石あたり何人を兵とするかは、遊ぶ側が選ぶ。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多く取れば兵は増えるが、毎月の扶持も重くなる。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軍役と動員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動員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一万石あたり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費え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平時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三〇〇人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〇.九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041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通常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三八〇人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049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決戦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四五〇人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一.一五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5057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総動員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五〇〇人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一.三五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小身の割増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石高だけで軍役を決めると、小さな家はいつまでも兵を持てない。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しかし史実の小領主は、村を丸ごと駆り出して身代に不釣り合いな兵を立てている。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長宗我部の一領具足がその例である。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田を耕す者がそのまま槍を取った。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そこで三万石を境に、小さい家ほど割増を掛ける。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小身の割増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三万石で一.〇倍、一万石で一.六倍、ゼロに近づけば一.九倍である。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大身には掛からない。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小身の割増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岡豊城（長宗我部・八千五百石）の平時軍役は、割増によって二五五人から四三三人になる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これで弱小大名も、開墾すれば兵が増えるという手応えを持てる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城を守るに要る兵は、もとは防備と民心だけで決めていた。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ところが、その数の幅が四百十から八百六十（二.一倍）しかないのに、城の兵は五十三から三千九百二十七（七十四倍）まで開く。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87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85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物差しが動かねば、両端で破れる。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32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29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二百七十一城のうち七十九城が、居る兵より多くの守兵を求められていた。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76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74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香宗城は城兵九十二に対して守り五百六十、岡豊城は百九十九に対して六百四十である。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これでは本拠から一兵も動かせない。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そこで、壁の要りがその城の器（平時の軍役）の半ばを超える城だけ、器のほうで量り直す。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壁を人で埋める数ではなく、その地の身代に見合った在番である。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百三十城が下がり、百四十一城は元のまま据え置かれた。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2094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石高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029" y="1620000"/>
            <a:ext cx="2094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城兵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4059" y="1620000"/>
            <a:ext cx="2094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直す前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2089" y="1620000"/>
            <a:ext cx="2094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直した後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033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香宗城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7999" y="2033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3,933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029" y="2033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059" y="2033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守り560／出せる0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089" y="2033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守り40／出せる52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041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岡豊城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041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8,500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6029" y="3041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199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4059" y="3041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守り640／出せる0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089" y="3041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守り83／出せる116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4049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小田原城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7999" y="4049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80,830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6029" y="4049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1,891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4059" y="4049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守り840／出せる1,051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089" y="4049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据え置き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057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一乗谷城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057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167,802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6029" y="5057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3,927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4059" y="5057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守り710／出せる3,217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089" y="5057999"/>
            <a:ext cx="209403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据え置き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兵は二種ある（重要）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この盤の兵は二つに分かれる。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どちらも数え方も増え方も違うので、ここを取り違えると軍勢が組めない。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兵は二種ある（重要）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地域家臣団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直属家臣団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誰の兵か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999" y="20339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城に属する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4059" y="20339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武将個人が抱える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7251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8403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どこにいるか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7999" y="28403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城を離れない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059" y="28403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武将とともに動く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35315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6467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増やし方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7999" y="36467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内政の「徴募」で雇う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4059" y="36467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その武将に知行を加増する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43379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4531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7999" y="44531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城の軍役（石高で決まる）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059" y="44531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軍役の器（知行で決まる）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51443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52595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養うもの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7999" y="52595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城の実入り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4059" y="52595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その武将の禄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兵は二種ある（重要）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出陣のときは、連れて行く武将の直属に、城から出す地域家臣団を足したものが軍勢になる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城を空にして出ることもできる。守りの目安を割っても止めはしない（決めるのは遊ぶ側である）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地域家臣団の増え方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内政の「徴募」で雇う。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三つの縛りのうち、いちばん厳しいものが効く。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地域家臣団の増え方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縛り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軍役の余力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城の軍役から、いま抱えている兵を引いた数まで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3377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377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その城の人口の一.二分（一二〇分の一）まで。村から出せる数には限りがある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721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4721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一人につき〇.四五貫。手元の金が尽きればそこまで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地域家臣団の増え方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雇った兵は練度三十の新兵として組に入る。訓練を重ねねば使いものにならない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雇ったぶんだけ人口が減る（雇った数の二割）。田を耕す者が槍を取るのだから、村は痩せる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軍役そのものを増やすには、開墾して石高を上げるほかない。石高が兵になる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直属家臣団の増え方と、率いられる上限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武将個人の兵は、知行を加増すれば増える。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一万石を与えるごとに五百人が目安で、統率の高い将ほど多く抱えられる。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直属家臣団の増え方と、率いられる上限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一万石の加増で増える兵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統率 六十の将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2033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五〇〇人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77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統率 八十の将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3377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五七五人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721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統率 百の将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4721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六〇〇人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直属家臣団の増え方と、率いられる上限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召し上げれば軍役も軽くなる。ただし初めから抱えている手勢を、この理屈で削りはしない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知行は城の石高から分け与えるので、配れるのは石高までである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身分と、率いられる兵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抱えている兵と、戦場へ率いていける兵は別である。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率いられる数は身分で決まり、身分は禄高（知行＋余禄）で決まる。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身分と、率いられる兵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身分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要る禄高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203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率いられる兵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6079" y="1620000"/>
            <a:ext cx="284004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できること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033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宿老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7999" y="2033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二万石以上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2039" y="2033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四,〇〇〇人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6079" y="2033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大名に代わって総大将を務められる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3041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家老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7999" y="3041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八千石以上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2039" y="3041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二,五〇〇人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079" y="3041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城を任され、その城の政を執れる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049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侍大将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7999" y="4049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二千五百石以上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2039" y="4049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一,六〇〇人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6079" y="4049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千人を超える隊を率いられる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5057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物頭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5057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それ未満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2039" y="5057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五〇〇人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6079" y="5057999"/>
            <a:ext cx="284004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五百人までの隊を預かる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身分と、率いられる兵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当主に限りは無い。ただし幼い当主は自ら率いられず、八百人までとなる（後見が代わって率いる）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大軍を動かすには、まず人を引き上げねばならない。知行を配ることが、そのまま軍の大きさになる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守るに要る兵の決まり方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城を守るに要る兵は目安であって、縛りではない。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ただし援軍を出せるか、采配が出陣するかは、この数を引いた残りで判ずる。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決め方は二段である。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壁の要りがその城の身代に見合っていれば、そのまま用いる。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見合わなければ、身代のほうで量り直す。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守るに要る兵の決まり方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決め方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効く城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壁の要り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防備×十 ＋（百−民忠）×五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身代に見合う城（百四十一城）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049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身代なり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平時の軍役 × 割（防備と民忠で〇.一二〜〇.五五）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壁の要りが軍役の半ばを超える城（百三十城）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守るに要る兵の決まり方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壁の要りだけで決めていたころは、二百七十一城のうち七十九城が、居る兵より多くの守兵を求められていた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香宗城は城兵九十二に守り五百六十、岡豊城は百九十九に六百四十。これでは本拠から一兵も動かせない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小田原・那古野・清洲・一乗谷といった大城は、元のまま据え置かれている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銭と兵糧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金銭は商いと鉱山、そして旗の下の家からの貢で入る。石高からの実入りは細い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毎月の費えは、兵の扶持と武将の禄高である。動員を上げれば扶持が重くなる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兵糧は城の蔵に貯まる。収穫は秋。城の兵はそこから食う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旗の下の家は貢を納める（従属は四分の一、臣従は四割）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商人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城下に市が立つ。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兵糧・馬・鉄砲を金で売り買いできる。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槍と弓は村々の百姓が自前で携えて出るので、ここでは商わない。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値は月で動く。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取り入れのあとの兵糧は安く、端境には高い。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商人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商いの栄えた城ほど諸国の品が集まるので、買値が安く済む（最も栄えた城で一割八分安い）。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商人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基の値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刻み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兵糧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千石につき二十四貫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千・五千・二万石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377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3377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一頭 二.六貫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3377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十・五十・二百頭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721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鉄砲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4721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一挺 二十四貫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4721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五・二十・五十挺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国を治める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商人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売るときは商人の口銭を引かれる。売値は買値の六割二分であるから、買ってすぐ売れば損をする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鉄砲の値は年で下がる。伝来から時が経つほど国内で作られるようになる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牧・鉄砲鍛冶と誼を通じれば、買わずとも馬と鉄砲が入る（保護で年に馬二十六頭・鉄砲四挺ほど）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武将・知行・組頭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武将の四つの値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ほかに齢・忠誠・知行・直属家臣団（軍役の器）がある。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知行が多いほど忠誠が上がり、直属を多く抱えられる。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忠誠が低い者は、敵の調略に応じて寝返ることがある。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武将の四つの値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何に効くか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統率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指揮圏と伝令の早さ、陣形替えの速さ、損害に対する士気の堪え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3041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武勇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041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白兵の強さ。相手の隊列を崩す力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49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知略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4049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伏兵と分遣の判断、調略と奇襲、水馴れ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5057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政務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5057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開墾・治水・商業・築城の伸び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知行と御料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知行は城の石高から分け与える田の高であるから、配れるのは石高までである。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配りすぎれば自らの取り分が消える、という釣り合いで縛る。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線引きでは縛らない。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当主の身代は「配り済み」に数えない。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大名の直轄領と余禄を合わせて御料と呼び、家臣に配る知行とは別のものだからである。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知行と御料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知行を一万石加えるごとに、その者が抱えられる直属家臣団は五百人ほど増える（統率が高いほど多い）。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身分と役（城主・国主・旗頭）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身分は禄高だけで定まる。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役に就いても身分は上がらない――役は預かるものであって身代ではない。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加増して身分を上げてから役に就ける、という順になる。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城主は任じた者に固定される。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出陣しても、より大身の者が入っても変わらない。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身分と役（城主・国主・旗頭）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城主が出陣しているあいだは、城に残る者が身分を問わず留守を預かる。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身分と役（城主・国主・旗頭）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要る身分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預かるもの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城主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侍大将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城の政務と守り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377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国主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3377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家老（八千石）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3377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城を持つ一国。その国の城主を寄騎に取れる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721999"/>
            <a:ext cx="151199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旗頭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4721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宿老（二万石）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4721999"/>
            <a:ext cx="433206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方面軍。受け持ちは寄騎を付けるにつれて広がる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方面軍（旗頭）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旗頭の受け持ちは、任じるときに国を選んで決めるものではない。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己の国と、寄騎たちの国である。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国主を寄騎に取れば、その国が受け持ちに加わり、手の届く先がさらに一つ外へ伸びる。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史実の方面軍もそうして生まれた――与力を付け、隣を切り取らせ、また与力を付ける。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大名が先に絵図を引いてしまうのでは、方面軍の意味が薄い。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方面軍（旗頭）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大名が指すのは「どの家を攻めるか」までである（受け持ちに国境を接する家から三家まで）。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どの城をいつ攻めるかは旗頭の見立てで、城攻めの始末まで旗頭が捌き、顛末だけが月報に出る。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預けた城の政務は、まず兵を器いっぱいに満たし、次に富国、その後に調略という順で進む。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組と組頭（この盤の特色）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盤の上の駒は十人ひとつ、五十人でひと組である。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組はただの数ではない。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一つひとつに長がおり、名がある。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組頭は敵の駒を討ち取るたびに手柄を重ね、勲功に応じて階が上がる。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物頭に届けば、その者を武将として取り立てられる。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組と組頭（この盤の特色）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そのとき提示されるのは「名も無き者」ではなく、盤の上で手柄を重ねてきたその人である。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組と組頭（この盤の特色）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要る勲功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十人長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251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8403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五十人長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28403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5315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6467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百人長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36467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十五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3379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4531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三百人長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44531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三十五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1443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52595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物頭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6000" y="52595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六十（ここで武将に取り立てられる）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組と組頭（この盤の特色）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組が消えれば、その長も死ぬ。名のある者ほど、その武将の戦には必ず出る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誰が何をしてきたかは「家中の帳」の組頭の欄に載る（手柄のある者だけ）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諱はまだ無い。与市、藤七郎、権兵衛といった通称で載る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架空の武将が世に出る条件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史実に伝わらぬ者は、こちらで補う。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ただし、むやみに増やさない。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取り立てるに値するのは、一つの戦で幾つも手柄を重ねた隊か、一隊の直属を大きく損なってなお戦い抜いた隊である。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架空の武将が世に出る条件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手柄一つにつき二点。直属を百六十人以上失っていれば二点を加える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四点に届いた隊のうち、いちばん働いた隊だけが候補になる（先に見つかった隊ではない）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そのうえで三割ほどの見込みで話が持ち上がる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組頭の道もある。勲功が物頭（六十）に届けば、名指しで取り立てられる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取り立てられた者には架空の印が付く。史実の武将と見分けがつく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94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" y="392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城の門を守る守備隊にも手柄はある。そこからも人は出る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大名家には姫がいる。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武将ではないので戦場には出ず、兵も率いない。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けれども、家と家を結ぶのは多く姫の縁である。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姫の数は家の石高による。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三十万石までは一人、七十万石までは二人、百万石までは三人、以後は五十万石ごとに一人を加え、十人を限りとする。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十五になった年に世に出る。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お市・帰蝶・愛姫といった名の伝わる姫は、その家が残っていれば、齢十五に達した年に必ず現れる。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使い道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輿入れ（婚姻同盟）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他家へ嫁いで同盟を結ぶ。期限は無く、縁はその姫が世を去るまで続く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3041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使者に立てる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041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ただの使者より遙かに重い。信用が大きく上がるが、三月のあいだ戻らない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49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家臣に嫁がせる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4049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婿は一門に列する。忠誠は九十二まで上がり、以後も七十を下らない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5057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家中の統率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5057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城にいるあいだ、その城の門の守備隊の統率に映る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人を用いる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姫武将はいない。姫が盤の上に駒として出ることはない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輿入れした姫が世を去れば、その縁で結んだ同盟も解ける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他家も姫を使う。縁談が来ることもあり、断れば信用が下がる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外交・旗の下・通行の掟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間柄の種類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間柄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中立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何の約束もない。攻めるも結ぶも自由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705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敵対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2705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戦っている、あるいは因縁がある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377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親善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3377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行き来がある。信用が積まれていく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049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不可侵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4049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期限つきで攻めない約束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721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同盟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6000" y="4721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互いに攻めず、援軍を頼める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5393999"/>
            <a:ext cx="216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従属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000" y="5393999"/>
            <a:ext cx="816011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旗の下に入るが、内政も軍事も自ら行う。貢は四分の一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間柄の種類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間柄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396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臣従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396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旗の下に入り、城の差配まで主に委ねる。貢は四割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旗の下（従属と臣従）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膝を屈するのは、その家の一生を決めることである。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期限はなく、二人の主は持てない。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主を替えるには、いったん旗を翻す（独立する）ほかない。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旗の下に入った家は、それまでの同盟・不可侵をすべて解く。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以後の外交は主のものに従い、自ら結べるのは不可侵までである。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旗の下（従属と臣従）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臣従させた家の城は、自家の城と同じように差配できる。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ただし所領は安堵されているので、その家の者を自家の城へ移すことはできない。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通行の掟（三条）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軍が他家の領を素通りできるかどうかは、間柄で決まる。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ここを緩めると、見えない街道ができてしまう。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長宗我部で遊んでいて、来島村上が海を越え山を越えて岡豊城を突いてきた――そういうことが起きる。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通行の掟（三条）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掟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2033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不可侵・同盟の家同士は、互いの領地をすり抜けて、その隣の家を攻めることはできない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77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3377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従属・臣従させている家の領は通れる。その家と隣り合う他家へ攻め入れる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721999"/>
            <a:ext cx="2160000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4721999"/>
            <a:ext cx="8160119" cy="1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旗の下にある家は、主家の領を素通りして、その隣を攻めることはできない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595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通行の掟（三条）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水軍を旨とする家は、山道と難所を越えて攻めない。海の家は海から来る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蝦夷の道は、蝦夷に本領を持たぬ家が進むとき二.六倍の時を要する。土地の者だけが速い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「道を借りる」という外交もある（二六〇貫・信用六十・六か月・片道）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調略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流言 … 名指しした一人の忠誠を深く削る（十八）。城中に広く撒けば浅く広がる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引き抜き … 相手を定めて誘う。忠誠と知略がものを言う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偵察 … その城の内情を掴む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城工作 … 櫓への放火、兵糧庫の破壊、城門の閂を折る、井戸への投げ込み、堀の水を落とす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当主は内応にも引き抜きにも応じない。家そのものである者が家を売る筋はない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94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" y="392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他家も同じ手を打つ。陰謀を気性とする家は、狙う城の武将すべての忠誠をじわりと削る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地図には、城のほかに小さな丸い印がある。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湊や市、寺社や鉱山といった、城を持たぬ者たちである。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その土地を切り取って初めて交渉ができる。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扱い方はおおむね三つ。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「保護（安いが末長い）」「支援（高いが多く得る）」「支配・接収（今すぐ多く取るが、反発が残り、後が痩せる）」である。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chi-港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936000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兵糧が入り、海路の往来が安んじる</a:t>
            </a:r>
          </a:p>
        </p:txBody>
      </p:sp>
      <p:pic>
        <p:nvPicPr>
          <p:cNvPr id="8" name="Picture 7" descr="machi-水軍衆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936000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水軍衆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湊の警固。支援すれば船と兵を得て、海路を握れる</a:t>
            </a:r>
          </a:p>
        </p:txBody>
      </p:sp>
      <p:pic>
        <p:nvPicPr>
          <p:cNvPr id="11" name="Picture 10" descr="machi-商業都市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936000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商業都市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金銭と商いの伸び。堺・博多のような大きな市</a:t>
            </a:r>
          </a:p>
        </p:txBody>
      </p:sp>
      <p:pic>
        <p:nvPicPr>
          <p:cNvPr id="14" name="Picture 13" descr="machi-町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936000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小さな市。金銭と商いが少しずつ伸びる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chi-寺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936000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寺社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民忠と威信が上がり、一揆を抑える。従属させれば僧兵を得る</a:t>
            </a:r>
          </a:p>
        </p:txBody>
      </p:sp>
      <p:pic>
        <p:nvPicPr>
          <p:cNvPr id="8" name="Picture 7" descr="machi-忍びの里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936000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忍びの里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敵情が自然に入る。雇えば調略と防諜に働く</a:t>
            </a:r>
          </a:p>
        </p:txBody>
      </p:sp>
      <p:pic>
        <p:nvPicPr>
          <p:cNvPr id="11" name="Picture 10" descr="machi-鉱山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936000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鉱山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金銭。掘り尽くせば多いが、山は痩せる</a:t>
            </a:r>
          </a:p>
        </p:txBody>
      </p:sp>
      <p:pic>
        <p:nvPicPr>
          <p:cNvPr id="14" name="Picture 13" descr="machi-牧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936000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馬。保護で年二十六頭、支援で六十二頭ほど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国と国とを結ぶ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chi-鉄砲鍛冶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936000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鉄砲鍛冶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鉄砲。国友・根来・堺などにある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3／3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rt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05" y="1584000"/>
            <a:ext cx="4270909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出陣の画面。行き先・将・兵・兵糧・攻城の道具をここで決める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城の帳から「出陣」を選ぶ。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行き先は街道で繋がった城に限る。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誰を出すか、兵を何人連れるか、兵糧をどれだけ積むかを決める。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行軍は街道の長さと険しさで決まる。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一月に百三十km（一日四.三km）を進む。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速さ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街道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一.〇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251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8403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渡河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28403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〇.八五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5315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6467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山道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36467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〇.五五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3379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4531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難所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44531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〇.三五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1443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5259599"/>
            <a:ext cx="216000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海路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6000" y="5259599"/>
            <a:ext cx="816011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〇.九五（船が要る）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出陣・行軍・援軍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兵糧が尽きると、士気も兵も落ちていく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海を渡るとき、その海を他家が握っていれば海戦になる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同じ月に同じ街道を行き交えば、途中で行き合って野戦になる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援軍は全国から呼べる（重要）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20" y="1584000"/>
            <a:ext cx="4793878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月の報せ。急報の下から、その城へそのまま援軍を出せる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援軍は全国から呼べる（重要）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関ヶ原も大坂の陣も島原の乱も、全国から兵が集まった。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主君の求めがあれば九州の兵も奥羽の兵も出る。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呼べる先を距離で切るのは、その姿に合わない。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数の縛りも距離の縛りも置いていない。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遠さで人数を割り引くこともしない。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援軍は全国から呼べる（重要）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関ヶ原へ向かった島津も、遠いから兵を減らしたわけではない。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代わりに置いたのが兵糧と運び賃である。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呼べるか呼べないかは、米が続くか、運ぶ金があるかで決まる。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援軍は全国から呼べる（重要）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縛り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2033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兵糧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033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一人あたり月〇.〇九石。行程のぶんに陣中の二月を足して持って出る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3041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留守の蓄え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041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城は蔵を空にしては出さない。留守の兵が半年食えるだけは残す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49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運び賃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4049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一人・一月につき〇.〇二貫。人足と馬と船を雇う費えで、城の蔵ではなく主家の金蔵から出る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5057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隊の数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000" y="5057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一方の陣に並べられるのは三十二隊まで（関ヶ原の参陣数）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援軍は全国から呼べる（重要）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尾張の内で呼ぶ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3城・1,935人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運び賃 39貫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全国から美濃へ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116城・46,583人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8039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運び賃 3,185貫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全国から薩摩へ（最遠15か月）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116城・46,478人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運び賃 7,851貫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後詰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自家の城へ敵が向かえば、月の報せで告げる。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行軍はどれも一月はかかるので、着いてから出したのでは間に合わない。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報せの画面から、そのまま援軍を出せる。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敵と同じ月に援軍が着けば、城下の野戦になる。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城方に「討って出るか」を問うので、門を開けば援軍と挟み撃ちにできる。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兵を動かす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後詰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囲まれた城へ差し向けた軍は後詰となり、囲みを解くための野戦になる。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合戦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-depl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布陣の段。自陣の範囲に隊を置く。青が自軍、赤が敵軍。川・橋・森・丘が読める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戦は布陣から始まる。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自陣の範囲に隊を置き、陣形を選ぶ。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森に置けば伏兵になる。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始まれば、隊をタップして選び、前進・接戦・突撃・射撃・守備・後退・待機・転回を命じる。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命令は伝令で届く。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統率が高いほど早く、指揮圏の外へは届かない。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隊を選ぶ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隊を選ぶと、その隊の様子がすべて読める。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兵の数、士気、隊列の整い、疲労、いま立っている地形。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敵の隊も、見えている範囲でなら読める。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隊は初め委任の形で始まる。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委任した隊は自ら地形を読み、道を選び、戦う。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隊を選ぶ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手ずから命じれば委任は外れ、以後その隊は指図どおりに動く。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「委ねて結果を見る」を押せば、戦わずに決着だけを見られる。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-f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交戦。槍が噛み合い、騎馬が側面へ回る。崩れた隊には敗走の印が立つ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槍を合わせ、弓と鉄砲が届き、騎馬が回り込む。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分遣した隊は「騎馬側面攻撃」「弓鉄砲高地占拠」といった名で盤に出て、役目を終えれば本陣へ帰る。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画面の上に、両軍の兵と士気、日没までの残りが出る。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日が暮れれば戦は終わる。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-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寄って見たところ。駒は十人ひとつ、五十人でひと組。形で兵科が分かる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拡げれば駒が見える。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槍・弓・鉄砲・騎馬が形で分かれ、組ごとに固まって動く。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前列が薄くなれば控えが繰り上がる。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-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崩れと追撃。士気か兵が尽きた隊は退き、追われれば盤を落ちる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士気が十五を切るか兵が二割二分を割ると、その隊は崩れる。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崩れた隊は盤の外へは出ず、敵の来ない所まで退いて息をつく。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士気が四十まで戻れば戦列に復する（立ち直れるのは一度きり）。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駒と兵科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盤の上の駒は十人ひとつ、五十人でひと組である。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隊はいくつもの組でできており、組ごとに兵科が決まっている。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駒の形で兵科が分かる。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駒と兵科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oma-y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462500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白兵一.二／足三四。数を揃えて正面を支える、戦の背骨。初めの割りの五割六分</a:t>
            </a:r>
          </a:p>
        </p:txBody>
      </p:sp>
      <p:pic>
        <p:nvPicPr>
          <p:cNvPr id="8" name="Picture 7" descr="koma-yum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462500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白兵〇.四五／射程一九〇／継ぎ矢一.五秒。遠くから当たり、雨にも左右されない</a:t>
            </a:r>
          </a:p>
        </p:txBody>
      </p:sp>
      <p:pic>
        <p:nvPicPr>
          <p:cNvPr id="11" name="Picture 10" descr="koma-tepp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462500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鉄砲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白兵〇.四／射程一五〇／継ぎ弾四.二秒／一撃三.二倍。雨では一割二分に落ちる</a:t>
            </a:r>
          </a:p>
        </p:txBody>
      </p:sp>
      <p:pic>
        <p:nvPicPr>
          <p:cNvPr id="14" name="Picture 13" descr="koma-kib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1462500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騎馬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白兵一.九／足五六。最も強く速い。森と湿地では力を落とす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駒と兵科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鉄砲と馬は買わねば増えない（鉄砲鍛冶・牧と誼を通じれば安く手に入る）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組は前列と控えに分かれる。前列が薄くなれば控えが繰り上がる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陣形は補正ではない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陣形は数の補正ではない。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五十人組をどこへ置くか、という配置そのものである。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「鶴翼だから強い」ということはなく、翼が広いから包める、正面が狭いから側面を突かれる、という形の道理がそのまま働く。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32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29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組み替えには二〜六秒かかり、その間は隊列が乱れて足も鈍る。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76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74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統率の高い将ほど早く据わる。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陣形は補正ではない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唯一の例外が鋒矢で、突撃が十六秒から二十六秒に延びる。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陣形は補正ではない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in-横陣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276364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横陣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正面が広く、多くの組が同時に槍を合わせられる。側面は薄い</a:t>
            </a:r>
          </a:p>
        </p:txBody>
      </p:sp>
      <p:pic>
        <p:nvPicPr>
          <p:cNvPr id="8" name="Picture 7" descr="jin-鶴翼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276364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鶴翼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両翼を前へ張り出して包む。中央は薄く、押し込まれると崩れやすい</a:t>
            </a:r>
          </a:p>
        </p:txBody>
      </p:sp>
      <p:pic>
        <p:nvPicPr>
          <p:cNvPr id="11" name="Picture 10" descr="jin-魚鱗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276364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魚鱗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先端に槍と騎馬を集めて一点を破る。正面は狭く、側面を突かれやすい</a:t>
            </a:r>
          </a:p>
        </p:txBody>
      </p:sp>
      <p:pic>
        <p:nvPicPr>
          <p:cNvPr id="14" name="Picture 13" descr="jin-鋒矢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1276364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鋒矢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矢尻に騎馬を置いて突き入る。突撃専用の陣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陣形は補正ではない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jin-雁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276364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雁行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斜めに構え、片翼を前に出す。移動しながら当たるのに向く</a:t>
            </a:r>
          </a:p>
        </p:txBody>
      </p:sp>
      <p:pic>
        <p:nvPicPr>
          <p:cNvPr id="8" name="Picture 7" descr="jin-横陣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276364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方陣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四方に槍を向けて密集する。包囲や乱戦に強いが、攻めは鈍い</a:t>
            </a:r>
          </a:p>
        </p:txBody>
      </p:sp>
      <p:pic>
        <p:nvPicPr>
          <p:cNvPr id="11" name="Picture 10" descr="jin-長蛇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276364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長蛇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縦一列。狭い道や渡河に向くが、横から突かれると総崩れになる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地形は避けるものと取るもの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委任した隊は、橋か浅瀬を選んで渡り、森・林・湿地・集落を避けて進む。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丘は取るものである。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知略八十を超える将は水馴れており、淵でも足がさほど鈍らない。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地形は避けるものと取るもの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i-haya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477895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足〇.八二／見通し百六十五。軽く身を隠せる</a:t>
            </a:r>
          </a:p>
        </p:txBody>
      </p:sp>
      <p:pic>
        <p:nvPicPr>
          <p:cNvPr id="8" name="Picture 7" descr="chi-mo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477895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足〇.六五／見通し九十五／戦う力〇.八五。伏兵を置けるのはここ（と林・集落）</a:t>
            </a:r>
          </a:p>
        </p:txBody>
      </p:sp>
      <p:pic>
        <p:nvPicPr>
          <p:cNvPr id="11" name="Picture 10" descr="chi-ok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477895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足〇.七／戦う力一.一五／見通し三六〇。登れば強い。避けるものではなく、取るもの</a:t>
            </a:r>
          </a:p>
        </p:txBody>
      </p:sp>
      <p:pic>
        <p:nvPicPr>
          <p:cNvPr id="14" name="Picture 13" descr="chi-shitsuch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1477895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湿地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足〇.五／戦う力〇.八。踏み込めば身動きが取れない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地形は避けるものと取るもの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i-shurak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477895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集落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足〇.七八／見通し百三十。垣と屋根に紛れる</a:t>
            </a:r>
          </a:p>
        </p:txBody>
      </p:sp>
      <p:pic>
        <p:nvPicPr>
          <p:cNvPr id="8" name="Picture 7" descr="chi-ha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477895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足〇.九五。淵は足〇.一・戦う力〇.五。橋は狭いが確かな道</a:t>
            </a:r>
          </a:p>
        </p:txBody>
      </p:sp>
      <p:pic>
        <p:nvPicPr>
          <p:cNvPr id="11" name="Picture 10" descr="chi-asa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477895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浅瀬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足〇.三／戦う力〇.七／隊列が乱れる。橋より広いが、渡るあいだは脆い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士気・崩れ・引き際（重要）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士気は戦の綾で動く。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押していれば上がり、押されていれば下がる。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士気・崩れ・引き際（重要）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起きること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崩れ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士気十五を切るか、兵が二割二分を割る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盤の外へは出ず、敵の来ない所まで退いて息をつく。士気が四十まで戻れば戦列に復する（一度きり）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041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隊の引き際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兵が一割を切るか、士気が尽きる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その隊が戦線を離れる。采配（他家と、委ねた自軍）のみ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049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軍の引き際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兵が五分の一を切るか、軍全体の士気が十五を切る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軍を退く。采配のみ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5057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盤を落ちる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逃げ場がなく、追われて士気も兵も尽きたとき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盤の外へ出る。落ちた将は捕らわれやすい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士気・崩れ・引き際（重要）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手ずから指図している隊は、掟によって勝手に退かない。全滅するまで押すのも遊ぶ側の決断である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「全軍委任」を選んだときだけ、敵と同じ判断で退く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戦が終わるのは、日が暮れるか、片方の兵が尽きるか、士気が尽きるか、隊がひとつ残らず盤を去るときである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城攻め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ege-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059" y="1584000"/>
            <a:ext cx="4698000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包囲の段。囲みを続けて兵糧を断つか、強攻するかを選ぶ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城攻め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城を囲んだ翌月から、囲みを続ける（兵糧を断つ）か、強攻するかを選べる。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ege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城郭図。曲輪が入れ子になり、いちばん内が本丸。右に門と施設の様子が並ぶ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寄せ手は野から寄せる。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城の際に湧いて出るのではない。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城の外を渡るあいだは足を緩め、櫓と狭間から矢と鉄砲を浴びる。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山城なら坂を登るぶん長く撃たれる。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本丸を十二秒押さえれば城は落ちる。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縄張り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輪郭式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本丸を中心に同心に取り巻く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二条御所・駿府城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041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連郭式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本丸・二の丸を一列に並べる。尾根の城に多い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3041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月山富田城・七尾城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049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梯郭式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本丸を一隅に寄せ、二方を川や崖に預ける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4049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岡山城・熊本城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5057999"/>
            <a:ext cx="151199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渦郭式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曲輪が渦を巻く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5057999"/>
            <a:ext cx="433206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姫路城・江戸城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門の堅さは城防そのものである（一一〇＋城防×一六）。城防二十の砦なら四三〇、九十の城なら一五五〇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攻城の道具を隊ごとに持たせる。破城槌は門を破る速さが三倍、竹束は受ける矢玉が四割に収まる、井楼は櫓を崩しやすい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87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85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武将のいない門は「◯◯城守備隊」が守る。統率はその城を預かる者の統率が映る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32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29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壊した櫓と門は、城の防備そのものを下げる（次に攻めるとき脆い）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ege-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門を破るところ。堀を渡り、虎口を折れ、門に取りつく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堀を渡れるのは土橋の上だけである。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門の外の囲い（虎口・枡形）が寄せ手を折り曲げるので、まっすぐには入れない。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門が破れれば、その曲輪の陣鐘は鳴りやむ。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ege-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01" y="1584000"/>
            <a:ext cx="5939317" cy="469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174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6E6A62"/>
                </a:solidFill>
                <a:latin typeface="Hiragino Mincho ProN"/>
              </a:rPr>
              <a:t>門ごとの押し合い。右に門の残りと施設の様子が並ぶ（惣構大手52%・搦手28%・東脇39%）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野戦・城攻め・海戦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城方は門のすぐ内に張り付いて門を支え、外の寄せ手へ射かける。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寄せ手が弱れば門を開いて討って出る。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持ち場の門が保たなくなれば、ひとつ内の門へ下がり、そこで立て直してその門を守る。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海戦と鉄甲船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海路を渡るとき、その海を握る家がなければ、渡る側と迎え撃つ側で海戦になる。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風と潮が速さを決め、焙烙は風上から投げねば効かない。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鉄甲船は、毛利の焙烙に焼かれた天正四年（一五七六）を境に造れるようになる。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一度の下知に九百貫、幾度も重ねてようやく一艘。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六艘を限りとする。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海戦と鉄甲船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他家も同じように造るので、天正の海はそれまでの海とは違うものになる。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合戦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海戦と鉄甲船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ne-tekk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1462500" cy="93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6000" y="1655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鉄甲船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000" y="1997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乗り百十・耐え三百二十。火矢も焙烙も通らず、大筒を遠くまで撃つ。極めて鈍い</a:t>
            </a:r>
          </a:p>
        </p:txBody>
      </p:sp>
      <p:pic>
        <p:nvPicPr>
          <p:cNvPr id="8" name="Picture 7" descr="fune-atak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812499"/>
            <a:ext cx="1462500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6000" y="2812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安宅船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3154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乗り九十・耐え百三十。鈍いが落ちない。旗艦となる</a:t>
            </a:r>
          </a:p>
        </p:txBody>
      </p:sp>
      <p:pic>
        <p:nvPicPr>
          <p:cNvPr id="11" name="Picture 10" descr="fune-sek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68999"/>
            <a:ext cx="1462500" cy="93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6000" y="39689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関船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6000" y="43109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乗り四十八・耐え六十二。速さと厚みの釣り合いが取れている</a:t>
            </a:r>
          </a:p>
        </p:txBody>
      </p:sp>
      <p:pic>
        <p:nvPicPr>
          <p:cNvPr id="14" name="Picture 13" descr="fune-kobay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5125499"/>
            <a:ext cx="1462500" cy="93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6000" y="5125499"/>
            <a:ext cx="1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C1E22"/>
                </a:solidFill>
                <a:latin typeface="Hiragino Mincho ProN"/>
              </a:rPr>
              <a:t>小早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5467499"/>
            <a:ext cx="9024119" cy="76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12E"/>
                </a:solidFill>
                <a:latin typeface="Hiragino Mincho ProN"/>
              </a:rPr>
              <a:t>乗り二十・耐え二十六。小さく速く、焙烙を投げて回り込む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官位・惣無事令・号令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五畿を握れば官位が下る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山城・大和・河内・和泉・摂津――五畿を旗の下に収めれば、朝廷から官位が下る。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右大臣・内大臣と進み、直轄と版図が届けば関白、相模と武蔵まで押さえれば征夷大将軍となる。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関白か将軍が天下人である。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一度得た位は、少々の目減りでは落ちない。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全国石高は竿を入れ田を拓くたびに増えるので、関門を割合で置くと、何も失っていないのに足下から関門が迫り上がる。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五畿を握れば官位が下る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保つ関門は、得るときより一割低い。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惣無事令と朝敵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天下人は諸大名に私戦の停止を命じられる。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従えば臣従し、ここでは石高の比を問わない――秀吉は既にあった間柄を一度ご破算にして「秀吉に従うか否か」に組み替えた。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87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85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拒めば朝敵となり、以後その家を攻めるのに約束を破る咎めはない。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32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29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朝敵となっても家中は乱れない。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76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74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従わぬと決めたことは家臣とも談じたはずであり、むしろ結束は固まる。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惣無事令と朝敵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北条も島津も、決断の後は最後まで戦った。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号令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惣無事令が「私戦を停めよ」であるのに対し、号令は「ここへ出よ」である。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秀吉の小田原がその形で、全国の大名が数筋の道から同じ城へ寄せた。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身分の梯子がそのまま骨格になる――旗頭は受け持ち、国主は一国、当主は自国、臣従大名はその家の全城を、それぞれ一手として出す。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32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29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国主を置いていない国は参陣しない。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7671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7455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号令は総仕上げの下知なのだから、家の骨組みを整えてはじめて通る。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天下への道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号令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惣無事令を経ていれば、道々の家も同じ旗の下にあるものとして他家の領を素通りできる。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一局が終わるのは二つ。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天下が定まるか、家が絶えるかである。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どちらのときも「終幕」が告げられる。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閉じれば盤へ戻れる。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旗の下とは、自家の城だけではない。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従属させた家、臣従を受けた家も、そのまた従属の家も、みな旗の下である。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つまり、四方を攻め潰さずとも天下は取れる。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ただし、その差は「位」に出る。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62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天下の位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一統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2033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他家が一つも残らない。すべての城を直に治めた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92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041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大成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3041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城の七割以上を直に治め、残るは旗の下の家々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049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4049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城の四割五分以上を直に治め、なお多くの家を従えている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494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5057999"/>
            <a:ext cx="2160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旗下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5057999"/>
            <a:ext cx="8160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直に治める城は多くないが、すべての家が旗の下に入った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従属・臣従で従えた家は、いつまでも旗の下にいるとは限らない。背けば天下は崩れる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当主が討たれ、あるいは捕らわれても、跡目を継ぐ者があれば家は続く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継ぐ者が一人もなく、城も無ければ、そこで家は絶える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一局の終わり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捕虜の仕来り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崩れて盤を落ちた将は捕らわれることがある。討死ばかりにはしない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処遇は三つ。返す（身代金を取る）・召し抱える・斬る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旧主への忠誠が高い者は降らない。一門はなおさら降らない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滅んだ家からは身代金の申し出は来ない。行方は必ず記録に残る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作りかけと、その先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天下騒乱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いまの盤は、遊ぶ側の当主が死んでも跡目が継げば家は続く、というところまでである。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その先に「天下騒乱」を考えている。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当主が世を去れば、家中は必ずしも一枚ではない。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跡目を巡って家が割れ、旗の下にあった家は独立の機を窺う。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統一を目前にして家が二つに裂ける――織田も、豊臣も、そうして崩れた。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天下騒乱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統一までを一本道にせず、統一したあとにも崩れる余地を残したい。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天下騒乱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当主の死による後継争い。家中が二つに割れ、城ごとに旗が分かれる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旗の下の大名の独立。主家が弱れば、従えていた家は背く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いまの盤で作ってある仕組み（家督・血筋・忠誠・従属と臣従）を、そのまま使う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世界編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日本の統一で終わりにしない。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統一した盤のデータをそのまま持ち越して、外へ出る筋を考えている。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石高・軍役・行軍・兵糧・運び賃といった仕組みは、日本の外でも同じ理屈で働く。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この盤で積んだものを土台にできる。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これから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積み残していること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96000" y="1620000"/>
            <a:ext cx="8160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中身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160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米本位制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2033999"/>
            <a:ext cx="816011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いまは商いが実入りの主で、石高からの実入りは細い。本来は米が値の物差しであった。改めるなら費えをすべて引き直すことになるので、年代のどこかで金本位へ移す形を考えている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4049999"/>
            <a:ext cx="2160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家の増補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4049999"/>
            <a:ext cx="816011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細川京兆家、美作・和泉・山城の薄さ、小山・大掾・岩城・城井・安宅といった名家。足せば足すほど盤は史実に近づくが、周りの家の立ち位置ごと組み替えることになる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用語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780000"/>
            <a:ext cx="10608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50">
                <a:solidFill>
                  <a:srgbClr val="A8A296"/>
                </a:solidFill>
                <a:latin typeface="Hiragino Sans"/>
              </a:rPr>
              <a:t>この盤で使う言葉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国と銭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石高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こくだか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その土地が生む米の高。兵の数も、知行も、費えも、みなここから出る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705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かん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銭の単位。下知の費えや運び賃はこれで数える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77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民忠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みんちゅう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民の心。低ければ一揆が起き、守りにも人手が要る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049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なじみ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その城の家中と土地との馴染み。高いほど兵が集まりやすい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721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城防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じょうぼう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城の備えの厚さ。城門の堅さそのものである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39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耐久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たいきゅう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5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城が囲みに耐える力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国と銭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396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検地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396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けんち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396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一国を残らず手中にしたとき行える。石高の天井が元禄の高まで伸びる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人と兵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軍役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ぐんやく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石高に応じて出さねばならぬ兵の数。この盤では抱えられる兵の上限にあたる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705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知行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ちぎょう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武将に分け与える田の高。多いほど忠誠が上がり、直属を多く抱えられる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77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禄高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ろくだか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武将に与える扶持。毎月の費えになる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049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御料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ごりょう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大名の直轄領と余禄。家臣に配る知行とは別のもの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721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地域家臣団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ちいきかしんだん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城に属する兵。城を離れない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39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直属家臣団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ちょくぞくかしんだん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5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武将個人が抱える兵。武将とともに動く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人と兵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くみ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五十人の一団。盤の上の最小の単位で、それぞれに長がいる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7251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403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組頭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8403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くみがしら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8403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組の長。手柄を重ねて十人長から物頭まで昇る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5315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6467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物頭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6467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ものがしら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6467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組頭の最上の階。ここに届けば武将に取り立てられる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3379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4531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守備隊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4531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しゅびたい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4531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武将のいない門を守る者たち。門番、足軽小頭、駆り出された地侍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1443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5259599"/>
            <a:ext cx="1511999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一門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52595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いちもん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5259599"/>
            <a:ext cx="4332060" cy="73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当主の血筋と、姫の婿。忠誠が高く、家督の候補にもなる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外交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信用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しんよう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家と家のあいだに積まれるもの。足りねば相手は応じない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705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威信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いしん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家の格。約束を破れば下がる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77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従属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じゅうぞく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旗の下に入るが、内政も軍事も自ら行う。貢は四分の一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049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臣従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しんじゅう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旗の下に入り、城の差配まで主に委ねる。貢は四割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721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旗の下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はたのした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従属・臣従で従えた家の総称。天下はこの範囲で数える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39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みつぎ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5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旗の下の家が主に納めるもの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外交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調略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ちょうりゃく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敵の内へ手を入れること。流言・引き抜き・偵察・城工作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049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道を借りる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みちをかりる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他家の領を通らせてもらう約束（片道・六か月）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出陣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しゅつじん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城から軍を出すこと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705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寄騎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よりき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出陣に加わる他城・他家の軍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77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後詰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ごづめ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囲まれた城を救うために差し向ける軍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049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討って出る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うってでる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城方が門を開いて野に出ること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721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委任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いにん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隊の采配を任せること。任せた隊は自ら地形を読んで戦う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39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崩れ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くずれ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5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士気か兵が尽きかけて隊が退くこと。立て直せば戦列に復する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1／3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潰走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かいそう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立て直せずに盤を落ちること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590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705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退き口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のきぐち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2705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退くときに払う損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62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77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分遣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ぶんけん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059" y="3377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隊から一部を割いて別の役に就かせること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049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伏兵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799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ふくへい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059" y="4049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森・林・集落に伏せておく兵。知略七十八以上の将が要る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606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721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曲輪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799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くるわ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059" y="4721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城の区画。外から順に門を破って進む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5278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5393999"/>
            <a:ext cx="1511999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虎口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9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こぐち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59" y="5393999"/>
            <a:ext cx="433206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門の外の囲い。寄せ手を折り曲げ、まっすぐには入れない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2／3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用語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20000"/>
            <a:ext cx="1511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9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4059" y="1620000"/>
            <a:ext cx="433206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50">
                <a:solidFill>
                  <a:srgbClr val="6E6A62"/>
                </a:solidFill>
                <a:latin typeface="Hiragino Sans"/>
              </a:rP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1890000"/>
            <a:ext cx="10608119" cy="1524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033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寄せ道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99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よせみち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4059" y="2033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野から城へ取りつくまでの道。ここで矢玉を浴びる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934799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4049999"/>
            <a:ext cx="151199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E22"/>
                </a:solidFill>
                <a:latin typeface="Hiragino Mincho ProN"/>
              </a:rPr>
              <a:t>焙烙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799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ほうろく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059" y="4049999"/>
            <a:ext cx="433206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12E"/>
                </a:solidFill>
                <a:latin typeface="Hiragino Mincho ProN"/>
              </a:rPr>
              <a:t>船戦の焼き玉。風上から投げねば効かない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5950800"/>
            <a:ext cx="10608119" cy="635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3／3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2232000"/>
            <a:ext cx="14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0">
                <a:solidFill>
                  <a:srgbClr val="6E6A62"/>
                </a:solidFill>
                <a:latin typeface="Hiragino San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700000"/>
            <a:ext cx="10608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200" b="0">
                <a:solidFill>
                  <a:srgbClr val="F4F1E8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4392000"/>
            <a:ext cx="1440000" cy="25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271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七十国にわたる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街道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494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長さは実際の km。中央値で誤差は一.〇〇倍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大名家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すべて操作できる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039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武将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039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972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8039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史実に伝わる者。架空の者は遊びの中で世に出る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4078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4078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4078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家の石高に応じて立つ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特殊勢力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九種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総石高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1,258 万石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8039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慶長三年の千八百六十万石の〇.六八倍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石高の幅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1C1E22"/>
                </a:solidFill>
                <a:latin typeface="Hiragino Mincho ProN"/>
              </a:rPr>
              <a:t>2,240 〜 167,802 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宗谷の砦から一乗谷城まで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初めの間柄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143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敵対59・従属47・同盟18・不可侵16・臣従3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合戦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一方に並ぶ隊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32 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関ヶ原の東西両軍の備の数に拠る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一隊の兵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30,000 まで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盤の駒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十人ひとつ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五十人でひと組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816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戦の長さ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4086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日暮れまで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788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いちばん長い城攻めで 221 秒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作りと確かさ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遊びは一枚の HTML にまとめて配る。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1603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21387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導入も繋がりも要らない。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070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854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記録はブラウザに残り、書き出して他の端末へ移せる。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0537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30321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作りの確かさは、五十七種の試験で見張っている。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5004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478800"/>
            <a:ext cx="1028411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盤の帳尻（城・国・道・石高）、記録が黙って消えないこと、賽が固定されること、合戦の一つひとつの掟――いずれも数で判ずる形にしてある。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1／2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作りと確かさ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13600"/>
            <a:ext cx="288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8478"/>
                </a:solidFill>
                <a:latin typeface="Hiragino Sa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92000"/>
            <a:ext cx="1028411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3312E"/>
                </a:solidFill>
                <a:latin typeface="Hiragino Mincho ProN"/>
              </a:rPr>
              <a:t>数字を変えたら、必ず測り直して書き直す。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6318000"/>
            <a:ext cx="10608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A8478"/>
                </a:solidFill>
                <a:latin typeface="Hiragino Sans"/>
              </a:rPr>
              <a:t>2／2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468000"/>
            <a:ext cx="10608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1C1E22"/>
                </a:solidFill>
                <a:latin typeface="Hiragino Mincho ProN"/>
              </a:rPr>
              <a:t>数と規模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954000"/>
            <a:ext cx="10608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478"/>
                </a:solidFill>
                <a:latin typeface="Hiragino Sans"/>
              </a:rPr>
              <a:t>作りと確かさ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278000"/>
            <a:ext cx="10608119" cy="2032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試験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57 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盤の検めから合戦の掟まで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039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記録の枠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039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8039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自動一・記録五・救出一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4078" y="1872000"/>
            <a:ext cx="332003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150">
                <a:solidFill>
                  <a:srgbClr val="8A8478"/>
                </a:solidFill>
                <a:latin typeface="Hiragino Sans"/>
              </a:rPr>
              <a:t>記録の大きさ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4078" y="2142000"/>
            <a:ext cx="332003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0">
                <a:solidFill>
                  <a:srgbClr val="1C1E22"/>
                </a:solidFill>
                <a:latin typeface="Hiragino Mincho ProN"/>
              </a:rPr>
              <a:t>約 340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4078" y="2844000"/>
            <a:ext cx="332003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E6A62"/>
                </a:solidFill>
                <a:latin typeface="Hiragino Mincho ProN"/>
              </a:rPr>
              <a:t>圧して収める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059" y="1800000"/>
            <a:ext cx="1944000" cy="19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031999"/>
            <a:ext cx="12192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 spc="400">
                <a:solidFill>
                  <a:srgbClr val="1C1E22"/>
                </a:solidFill>
                <a:latin typeface="Hiragino Mincho ProN"/>
              </a:rPr>
              <a:t>センゴク盤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16000"/>
            <a:ext cx="1219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spc="600">
                <a:solidFill>
                  <a:srgbClr val="8A8478"/>
                </a:solidFill>
                <a:latin typeface="Hiragino Mincho ProN"/>
              </a:rPr>
              <a:t>SENGOKU 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