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0.jpg"/><Relationship Id="rId4" Type="http://schemas.openxmlformats.org/officeDocument/2006/relationships/image" Target="../media/image25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059" y="1655999"/>
            <a:ext cx="6120000" cy="183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104000"/>
            <a:ext cx="1219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spc="400">
                <a:solidFill>
                  <a:srgbClr val="F4F1E8"/>
                </a:solidFill>
                <a:latin typeface="Hiragino Mincho ProN"/>
              </a:rPr>
              <a:t>紹介資料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644000"/>
            <a:ext cx="121921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150">
                <a:solidFill>
                  <a:srgbClr val="A8A296"/>
                </a:solidFill>
                <a:latin typeface="Hiragino Mincho ProN"/>
              </a:rPr>
              <a:t>天文十五年（一五四六）四月　日本六十六州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4000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4000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4000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4000" y="3103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4000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4000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4000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4000" y="4219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59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059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059" y="1987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59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059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059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59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059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59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059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059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59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059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起動の画面。記録所の枠を押せば、その盤から続けられる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「センゴク盤」は、天文十五年（一五四六）の日本を舞台にした戦国大名の遊びである。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遊ぶ側は百三十七家のいずれかの当主となり、月を送りながら国を富ませ、人を用い、隣と交わり、あるいは攻める。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天下に旗を立てるまで、あるいは家が絶えるまでが一局である。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盤には二百七十一の城と九百七十二人の武将がいる。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城には石高があり、石高は兵になり、兵は組に分かれ、組には長がいる。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数字の一つひとつに、そう決めた理由がある。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で動く。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導入も、繋がりも要らない。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開けば始まり、記録はそのブラウザに残る。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湊・市・寺社・鉱山など九種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慶長三年の検地高の〇.六八倍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戦国を扱う遊びは数多い。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この盤が他と分かつのは、次の五つである。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盤の上で戦う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合戦は結果の表示ではない。五十人ひと組の駒が地形を読み、道を選び、門を破り、崩れて退く。野戦・城攻め・海戦のいずれも、盤の上で最後まで動く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数は事績から取る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石高は慶長・元禄の検地高から、行軍は一日の里程から、参陣の隊数は関ヶ原から取った。他の遊びの数値は参照していない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名も無き者に名がある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五十人組にはそれぞれ長がいる。討ち取るたびに手柄を重ね、十人長から物頭まで昇る。物頭に届けば、その者が武将として世に出る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旗の下という道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すべてを攻め潰さずとも天下は取れる。従え、臣従させ、旗の下に収めるのも一つの道である。ただし、その差は「位」に出る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同じ種から同じ盤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賽は盤ごとの種から振る。時計を混ぜていないので、同じ記録からは同じ盤が出る。記録は必ず読み戻せる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遊ぶための備え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一枚の HTML。ブラウザで開くだけで動く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3940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5092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5092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要らない。繋がりも要らない（一度読み込めば、以後は手元で動く）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2832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3984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記録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3984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そのブラウザに残る（七枠）。書き出して他の端末へ移せる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1724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2876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画面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2876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指でも鼠でも操れる。地図はつまんで拡げられる（十二倍まで）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0616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1768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言葉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1768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日本語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数を決めるとき、拠りどころは史料に置いた。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他の遊びの数値は参照していない。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たとえば行軍である。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はじめ一月に四十六km としていた。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一日一.五km であり、軍勢どころか人の歩みですらない。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改めて、一月百三十km（一日四.三km）とした。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秀吉の中国大返しが十日で二百km 余、通常の行軍が一日四〜六km という記録に拠る。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石高もそうである。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天文十五年は検地の前であるから、慶長三年（一五九八）の検地高を「治水の届く限り」、元禄十年（一六九七）の高を「地の力そのもの」と置いた。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盤の総石高は千二百五十八万石で、慶長期の千八百六十万石の〇.六八倍にあたる。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検地の前であり新田も開かれていないのだから、この率は妥当と見ている。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参陣の隊数も、関ヶ原の東西両軍の備の数から三十二と定めた。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「守るに要る兵」は目安であって、縛りではない。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城を空にして野に出るのも一つの決断である。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桶狭間の今川方も、姉川の浅井方も、城に兵を残して野に出た。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残さずに出た者もいる。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決めるのは遊ぶ側であって、掟ではない。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縛るのは、物として尽きるものだけにした。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兵糧・金銭・人・時である。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「そこまでしか行けない」ではなく「そこまでしか持たない」で縛る。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野戦の引き際を例に取る。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兵が五分の一を切るか士気が尽きれば、采配を預かる軍は退く。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各隊も、兵が一割を切るか士気が尽きれば戦線を離れる。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しかしこれは采配（他家と、委ねた自軍）の話である。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手ずから指図している隊が、掟によって勝手に退くことはない。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全滅するまで押すのも遊ぶ側の決断である。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ただし「全軍委任」を選んだときは、敵と同じ判断で退く。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盤ごとに種を一つ持ち、賽はそこから振る。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時計を混ぜていないので、同じ記録からは必ず同じ盤が出る。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記録が読み戻せなくなることはない。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記録は圧して収めるので、七枠でも一.五MB ほどに収まる。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棚が一杯なら詰め直し、それでも入らなければ「入らない」と告げる。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黙って消すことはない。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451" y="1584000"/>
            <a:ext cx="40852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城の帳。上に城の様子、右に武将、下に命令の並び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城の帳から武将を一人選んで命じる。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武将は月に一つの仕事にしか就けない。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費えは家の身代に応じて上下する（小さい家ほど安く済む）。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開墾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石高を増やす。政務の高い者ほど伸びる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治水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石高の上限を伸ばす。民忠も少し上がる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商業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商いを盛んにし、金銭の実入りを増やす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築城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城防と耐久を上げる。城防は城門の堅さそのものである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訓練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地域家臣団と、在城の直属家臣団の練度を上げる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徴募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地域家臣団を増やす。人口と軍役の余力までしか集まらない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近い敵城の民忠と城防を削る。知略の高い者ほど効く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4049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造船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4049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天正四年以降、湊か水軍衆を抱えた海の城で鉄甲船を造る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石高には天井が三つある。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一つの数で天井を作ると、開墾がすぐ頭打ちになるか、際限なく伸びるかのどちらかになってしまう。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段を三つに分けた。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203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何にあたるか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07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伸ばす手立て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田畑可能地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799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一.二五倍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03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いま開ける余地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7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開墾で埋める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慶長の高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799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一.四七八倍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203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治水が届く限り＝慶長三年の検地高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607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治水で広げる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元禄の高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二.〇五一倍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203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地の力そのもの＝元禄十年の検地高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607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一国を統一し、検地を行う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開墾は「田畑可能地」まで。治水はその可能地を「慶長の高」まで押し広げる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一国を残らず手中にすれば検地ができ、天井が「元禄の高」まで伸びる。伸びるのは天井であって、石高そのものではない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米そのものを通貨とする仕組み（米本位）は、今のところ入れていない。実入りは商いが主である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抱えられる兵は石高で決まる。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一万石あたり何人を兵とするかは、遊ぶ側が選ぶ。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多く取れば兵は増えるが、毎月の扶持も重くなる。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動員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一万石あたり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費え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平時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三〇〇人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通常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三八〇人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決戦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四五〇人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一.一五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総動員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一.三五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石高だけで軍役を決めると、小さな家はいつまでも兵を持てない。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しかし史実の小領主は、村を丸ごと駆り出して身代に不釣り合いな兵を立てている。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長宗我部の一領具足がその例である。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田を耕す者がそのまま槍を取った。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そこで三万石を境に、小さい家ほど割増を掛ける。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三万石で一.〇倍、一万石で一.六倍、ゼロに近づけば一.九倍である。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大身には掛からない。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岡豊城（長宗我部・八千五百石）の平時軍役は、割増によって二五五人から四三三人になる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これで弱小大名も、開墾すれば兵が増えるという手応えを持てる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城を守るに要る兵は、もとは防備と民心だけで決めていた。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ところが、その数の幅が四百十から八百六十（二.一倍）しかないのに、城の兵は五十三から三千九百二十七（七十四倍）まで開く。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物差しが動かねば、両端で破れる。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二百七十一城のうち七十九城が、居る兵より多くの守兵を求められていた。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香宗城は城兵九十二に対して守り五百六十、岡豊城は百九十九に対して六百四十である。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これでは本拠から一兵も動かせない。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そこで、壁の要りがその城の器（平時の軍役）の半ばを超える城だけ、器のほうで量り直す。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壁を人で埋める数ではなく、その地の身代に見合った在番である。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百三十城が下がり、百四十一城は元のまま据え置かれた。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石高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02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2405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208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直した後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香宗城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799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02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05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守り560／出せる0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08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守り40／出せる52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岡豊城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602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405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守り640／出せる0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8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守り83／出せる116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小田原城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799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80,830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602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1,891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05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守り840／出せる1,051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08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一乗谷城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167,802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602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405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守り710／出せる3,217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08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銭と兵糧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金銭は商いと鉱山、そして旗の下の家からの貢で入る。石高からの実入りは細い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毎月の費えは、兵の扶持と武将の禄高である。動員を上げれば扶持が重くなる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兵糧は城の蔵に貯まる。収穫は秋。城の兵はそこから食う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旗の下の家は貢を納める（従属は四分の一、臣従は四割）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ほかに齢・忠誠・知行・直属家臣団（軍役の器）がある。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知行が多いほど忠誠が上がり、直属を多く抱えられる。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忠誠が低い者は、敵の調略に応じて寝返ることがある。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何に効くか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指揮圏と伝令の早さ、陣形替えの速さ、損害に対する士気の堪え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武勇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白兵の強さ。相手の隊列を崩す力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伏兵と分遣の判断、調略と奇襲、水馴れ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政務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開墾・治水・商業・築城の伸び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知行は城の石高から分け与える田の高であるから、配れるのは石高までである。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配りすぎれば自らの取り分が消える、という釣り合いで縛る。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線引きでは縛らない。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当主の身代は「配り済み」に数えない。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大名の直轄領と余禄を合わせて御料と呼び、家臣に配る知行とは別のものだからである。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知行を一万石加えるごとに、その者が抱えられる直属家臣団は五百人ほど増える（統率が高いほど多い）。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組はただの数ではない。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一つひとつに長がおり、名がある。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組頭は敵の駒を討ち取るたびに手柄を重ね、勲功に応じて階が上がる。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物頭に届けば、その者を武将として取り立てられる。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そのとき提示されるのは「名も無き者」ではなく、盤の上で手柄を重ねてきたその人である。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要る勲功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十人長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五十人長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百人長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十五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三百人長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三十五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六十（ここで武将に取り立てられる）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組が消えれば、その長も死ぬ。名のある者ほど、その武将の戦には必ず出る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誰が何をしてきたかは「家中の帳」の組頭の欄に載る（手柄のある者だけ）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諱はまだ無い。与市、藤七郎、権兵衛といった通称で載る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史実に伝わらぬ者は、こちらで補う。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ただし、むやみに増やさない。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取り立てるに値するのは、一つの戦で幾つも手柄を重ねた隊か、一隊の直属を大きく損なってなお戦い抜いた隊である。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手柄一つにつき二点。直属を百六十人以上失っていれば二点を加える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四点に届いた隊のうち、いちばん働いた隊だけが候補になる（先に見つかった隊ではない）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そのうえで三割ほどの見込みで話が持ち上がる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組頭の道もある。勲功が物頭（六十）に届けば、名指しで取り立てられる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取り立てられた者には架空の印が付く。史実の武将と見分けがつく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城の門を守る守備隊にも手柄はある。そこからも人は出る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大名家には姫がいる。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武将ではないので戦場には出ず、兵も率いない。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けれども、家と家を結ぶのは多く姫の縁である。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姫の数は家の石高による。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三十万石までは一人、七十万石までは二人、百万石までは三人、以後は五十万石ごとに一人を加え、十人を限りとする。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十五になった年に世に出る。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お市・帰蝶・愛姫といった名の伝わる姫は、その家が残っていれば、齢十五に達した年に必ず現れる。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使い道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輿入れ（婚姻同盟）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他家へ嫁いで同盟を結ぶ。期限は無く、縁はその姫が世を去るまで続く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使者に立てる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ただの使者より遙かに重い。信用が大きく上がるが、三月のあいだ戻らない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家臣に嫁がせる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婿は一門に列する。忠誠は九十二まで上がり、以後も七十を下らない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家中の統率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城にいるあいだ、その城の門の守備隊の統率に映る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姫武将はいない。姫が盤の上に駒として出ることはない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輿入れした姫が世を去れば、その縁で結んだ同盟も解ける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他家も姫を使う。縁談が来ることもあり、断れば信用が下がる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中立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何の約束もない。攻めるも結ぶも自由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敵対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戦っている、あるいは因縁がある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親善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行き来がある。信用が積まれていく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不可侵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期限つきで攻めない約束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互いに攻めず、援軍を頼める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膝を屈するのは、その家の一生を決めることである。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期限はなく、二人の主は持てない。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主を替えるには、いったん旗を翻す（独立する）ほかない。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旗の下に入った家は、それまでの同盟・不可侵をすべて解く。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以後の外交は主のものに従い、自ら結べるのは不可侵までである。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臣従させた家の城は、自家の城と同じように差配できる。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ただし所領は安堵されているので、その家の者を自家の城へ移すことはできない。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軍が他家の領を素通りできるかどうかは、間柄で決まる。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ここを緩めると、見えない街道ができてしまう。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長宗我部で遊んでいて、来島村上が海を越え山を越えて岡豊城を突いてきた――そういうことが起きる。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掟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不可侵・同盟の家同士は、互いの領地をすり抜けて、その隣の家を攻めることはできない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従属・臣従させている家の領は通れる。その家と隣り合う他家へ攻め入れる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旗の下にある家は、主家の領を素通りして、その隣を攻めることはできない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水軍を旨とする家は、山道と難所を越えて攻めない。海の家は海から来る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蝦夷の道は、蝦夷に本領を持たぬ家が進むとき二.六倍の時を要する。土地の者だけが速い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「道を借りる」という外交もある（二六〇貫・信用六十・六か月・片道）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調略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流言 … 名指しした一人の忠誠を深く削る（十八）。城中に広く撒けば浅く広がる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引き抜き … 相手を定めて誘う。忠誠と知略がものを言う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偵察 … その城の内情を掴む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城工作 … 櫓への放火、兵糧庫の破壊、城門の閂を折る、井戸への投げ込み、堀の水を落とす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当主は内応にも引き抜きにも応じない。家そのものである者が家を売る筋はない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他家も同じ手を打つ。陰謀を気性とする家は、狙う城の武将すべての忠誠をじわりと削る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地図には、城のほかに小さな丸い印がある。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湊や市、寺社や鉱山といった、城を持たぬ者たちである。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その土地を切り取って初めて交渉ができる。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扱い方はおおむね三つ。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「保護（安いが末長い）」「支援（高いが多く得る）」「支配・接収（今すぐ多く取るが、反発が残り、後が痩せる）」である。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港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兵糧が入り、海路の往来が安んじる</a:t>
            </a:r>
          </a:p>
        </p:txBody>
      </p:sp>
      <p:pic>
        <p:nvPicPr>
          <p:cNvPr id="8" name="Picture 7" descr="machi-水軍衆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水軍衆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湊の警固。支援すれば船と兵を得て、海路を握れる</a:t>
            </a:r>
          </a:p>
        </p:txBody>
      </p:sp>
      <p:pic>
        <p:nvPicPr>
          <p:cNvPr id="11" name="Picture 10" descr="machi-商業都市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商業都市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金銭と商いの伸び。堺・博多のような大きな市</a:t>
            </a:r>
          </a:p>
        </p:txBody>
      </p:sp>
      <p:pic>
        <p:nvPicPr>
          <p:cNvPr id="14" name="Picture 13" descr="machi-町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小さな市。金銭と商いが少しずつ伸びる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寺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寺社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民忠と威信が上がり、一揆を抑える。従属させれば僧兵を得る</a:t>
            </a:r>
          </a:p>
        </p:txBody>
      </p:sp>
      <p:pic>
        <p:nvPicPr>
          <p:cNvPr id="8" name="Picture 7" descr="machi-忍びの里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忍びの里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敵情が自然に入る。雇えば調略と防諜に働く</a:t>
            </a:r>
          </a:p>
        </p:txBody>
      </p:sp>
      <p:pic>
        <p:nvPicPr>
          <p:cNvPr id="11" name="Picture 10" descr="machi-鉱山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鉱山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金銭。掘り尽くせば多いが、山は痩せる</a:t>
            </a:r>
          </a:p>
        </p:txBody>
      </p:sp>
      <p:pic>
        <p:nvPicPr>
          <p:cNvPr id="14" name="Picture 13" descr="machi-牧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馬。保護で年二十六頭、支援で六十二頭ほど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鉄砲鍛冶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鉄砲鍛冶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鉄砲。国友・根来・堺などにある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rt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605" y="1584000"/>
            <a:ext cx="4270909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出陣の画面。行き先・将・兵・兵糧・攻城の道具をここで決める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城の帳から「出陣」を選ぶ。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行き先は街道で繋がった城に限る。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誰を出すか、兵を何人連れるか、兵糧をどれだけ積むかを決める。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行軍は街道の長さと険しさで決まる。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一月に百三十km（一日四.三km）を進む。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速さ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街道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渡河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〇.八五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山道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〇.五五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難所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〇.三五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海路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〇.九五（船が要る）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兵糧が尽きると、士気も兵も落ちていく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海を渡るとき、その海を他家が握っていれば海戦になる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同じ月に同じ街道を行き交えば、途中で行き合って野戦になる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月の報せ。急報の下から、その城へそのまま援軍を出せる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関ヶ原も大坂の陣も島原の乱も、全国から兵が集まった。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主君の求めがあれば九州の兵も奥羽の兵も出る。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呼べる先を距離で切るのは、その姿に合わない。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数の縛りも距離の縛りも置いていない。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遠さで人数を割り引くこともしない。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関ヶ原へ向かった島津も、遠いから兵を減らしたわけではない。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代わりに置いたのが兵糧と運び賃である。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呼べるか呼べないかは、米が続くか、運ぶ金があるかで決まる。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兵糧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一人あたり月〇.〇九石。行程のぶんに陣中の二月を足して持って出る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留守の蓄え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城は蔵を空にしては出さない。留守の兵が半年食えるだけは残す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運び賃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一人・一月につき〇.〇二貫。人足と馬と船を雇う費えで、城の蔵ではなく主家の金蔵から出る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一方の陣に並べられるのは三十二隊まで（関ヶ原の参陣数）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尾張の内で呼ぶ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3城・1,935人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39貫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全国から美濃へ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116城・46,583人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3,185貫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全国から薩摩へ（最遠15か月）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116城・46,478人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7,851貫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自家の城へ敵が向かえば、月の報せで告げる。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行軍はどれも一月はかかるので、着いてから出したのでは間に合わない。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報せの画面から、そのまま援軍を出せる。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敵と同じ月に援軍が着けば、城下の野戦になる。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城方に「討って出るか」を問うので、門を開けば援軍と挟み撃ちにできる。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囲まれた城へ差し向けた軍は後詰となり、囲みを解くための野戦になる。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合戦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depl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野戦の布陣。青が自軍、赤が敵軍。川・橋・森・丘が読める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隊をタップして選び、前進・接戦・突撃・射撃・守備・後退・待機・転回を命じる。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命令は伝令で届く。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統率が高いほど早く、指揮圏の外へは届かない。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隊は初め委任の形で始まる。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委任した隊は自ら地形を読み、道を選び、戦う。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手ずから命じれば委任は外れる。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「委ねて結果を見る」を押せば、戦わずに決着だけを見られる。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隊はいくつもの組でできており、組ごとに兵科が決まっている。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駒の形で兵科が分かる。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oma-y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白兵一.二／足三四。数を揃えて正面を支える、戦の背骨。初めの割りの五割六分</a:t>
            </a:r>
          </a:p>
        </p:txBody>
      </p:sp>
      <p:pic>
        <p:nvPicPr>
          <p:cNvPr id="8" name="Picture 7" descr="koma-yum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白兵〇.四五／射程一九〇／継ぎ矢一.五秒。遠くから当たり、雨にも左右されない</a:t>
            </a:r>
          </a:p>
        </p:txBody>
      </p:sp>
      <p:pic>
        <p:nvPicPr>
          <p:cNvPr id="11" name="Picture 10" descr="koma-tepp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白兵〇.四／射程一五〇／継ぎ弾四.二秒／一撃三.二倍。雨では一割二分に落ちる</a:t>
            </a:r>
          </a:p>
        </p:txBody>
      </p:sp>
      <p:pic>
        <p:nvPicPr>
          <p:cNvPr id="14" name="Picture 13" descr="koma-kib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騎馬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白兵一.九／足五六。最も強く速い。森と湿地では力を落とす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鉄砲と馬は買わねば増えない（鉄砲鍛冶・牧と誼を通じれば安く手に入る）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組は前列と控えに分かれる。前列が薄くなれば控えが繰り上がる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陣形は数の補正ではない。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五十人組をどこへ置くか、という配置そのものである。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「鶴翼だから強い」ということはなく、翼が広いから包める、正面が狭いから側面を突かれる、という形の道理がそのまま働く。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組み替えには二〜六秒かかり、その間は隊列が乱れて足も鈍る。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統率の高い将ほど早く据わる。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唯一の例外が鋒矢で、突撃が十六秒から二十六秒に延びる。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横陣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横陣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正面が広く、多くの組が同時に槍を合わせられる。側面は薄い</a:t>
            </a:r>
          </a:p>
        </p:txBody>
      </p:sp>
      <p:pic>
        <p:nvPicPr>
          <p:cNvPr id="8" name="Picture 7" descr="jin-鶴翼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鶴翼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両翼を前へ張り出して包む。中央は薄く、押し込まれると崩れやすい</a:t>
            </a:r>
          </a:p>
        </p:txBody>
      </p:sp>
      <p:pic>
        <p:nvPicPr>
          <p:cNvPr id="11" name="Picture 10" descr="jin-魚鱗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魚鱗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先端に槍と騎馬を集めて一点を破る。正面は狭く、側面を突かれやすい</a:t>
            </a:r>
          </a:p>
        </p:txBody>
      </p:sp>
      <p:pic>
        <p:nvPicPr>
          <p:cNvPr id="14" name="Picture 13" descr="jin-鋒矢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276364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鋒矢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矢尻に騎馬を置いて突き入る。突撃専用の陣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雁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雁行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斜めに構え、片翼を前に出す。移動しながら当たるのに向く</a:t>
            </a:r>
          </a:p>
        </p:txBody>
      </p:sp>
      <p:pic>
        <p:nvPicPr>
          <p:cNvPr id="8" name="Picture 7" descr="jin-横陣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方陣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四方に槍を向けて密集する。包囲や乱戦に強いが、攻めは鈍い</a:t>
            </a:r>
          </a:p>
        </p:txBody>
      </p:sp>
      <p:pic>
        <p:nvPicPr>
          <p:cNvPr id="11" name="Picture 10" descr="jin-長蛇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長蛇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縦一列。狭い道や渡河に向くが、横から突かれると総崩れになる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委任した隊は、橋か浅瀬を選んで渡り、森・林・湿地・集落を避けて進む。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丘は取るものである。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知略八十を超える将は水馴れており、淵でも足がさほど鈍らない。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hayas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足〇.八二／見通し百六十五。軽く身を隠せる</a:t>
            </a:r>
          </a:p>
        </p:txBody>
      </p:sp>
      <p:pic>
        <p:nvPicPr>
          <p:cNvPr id="8" name="Picture 7" descr="chi-m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足〇.六五／見通し九十五／戦う力〇.八五。伏兵を置けるのはここ（と林・集落）</a:t>
            </a:r>
          </a:p>
        </p:txBody>
      </p:sp>
      <p:pic>
        <p:nvPicPr>
          <p:cNvPr id="11" name="Picture 10" descr="chi-ok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足〇.七／戦う力一.一五／見通し三六〇。登れば強い。避けるものではなく、取るもの</a:t>
            </a:r>
          </a:p>
        </p:txBody>
      </p:sp>
      <p:pic>
        <p:nvPicPr>
          <p:cNvPr id="14" name="Picture 13" descr="chi-shitsuch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77895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湿地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足〇.五／戦う力〇.八。踏み込めば身動きが取れない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shura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集落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足〇.七八／見通し百三十。垣と屋根に紛れる</a:t>
            </a:r>
          </a:p>
        </p:txBody>
      </p:sp>
      <p:pic>
        <p:nvPicPr>
          <p:cNvPr id="8" name="Picture 7" descr="chi-has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足〇.九五。淵は足〇.一・戦う力〇.五。橋は狭いが確かな道</a:t>
            </a:r>
          </a:p>
        </p:txBody>
      </p:sp>
      <p:pic>
        <p:nvPicPr>
          <p:cNvPr id="11" name="Picture 10" descr="chi-asa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浅瀬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足〇.三／戦う力〇.七／隊列が乱れる。橋より広いが、渡るあいだは脆い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士気は戦の綾で動く。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押していれば上がり、押されていれば下がる。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起きること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士気十五を切るか、兵が二割二分を割る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盤の外へは出ず、敵の来ない所まで退いて息をつく。士気が四十まで戻れば戦列に復する（一度きり）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隊の引き際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兵が一割を切るか、士気が尽きる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その隊が戦線を離れる。采配（他家と、委ねた自軍）のみ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軍の引き際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兵が五分の一を切るか、軍全体の士気が十五を切る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軍を退く。采配のみ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盤を落ちる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逃げ場がなく、追われて士気も兵も尽きたとき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盤の外へ出る。落ちた将は捕らわれやすい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手ずから指図している隊は、掟によって勝手に退かない。全滅するまで押すのも遊ぶ側の決断である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「全軍委任」を選んだときだけ、敵と同じ判断で退く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戦が終わるのは、日が暮れるか、片方の兵が尽きるか、士気が尽きるか、隊がひとつ残らず盤を去るときである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城郭図。曲輪と城門、堀と矢倉。右に門と施設の様子が並ぶ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城を囲んだ翌月から、囲みを続ける（兵糧を断つ）か、強攻するかを選べる。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強攻を選ぶと城郭図の上での戦になる。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寄せ手は野から寄せる。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城の際に湧いて出るのではない。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城の外を渡るあいだは足を緩め、櫓と狭間から矢と鉄砲を浴びる。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山城なら坂を登るぶん長く撃たれる。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本丸を十二秒押さえれば城は落ちる。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縄張り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輪郭式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本丸を中心に同心に取り巻く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二条御所・駿府城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連郭式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本丸・二の丸を一列に並べる。尾根の城に多い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月山富田城・七尾城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梯郭式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本丸を一隅に寄せ、二方を川や崖に預ける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岡山城・熊本城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渦郭式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曲輪が渦を巻く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姫路城・江戸城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門の堅さは城防そのものである（一一〇＋城防×一六）。城防二十の砦なら四三〇、九十の城なら一五五〇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攻城の道具を隊ごとに持たせる。破城槌は門を破る速さが三倍、竹束は受ける矢玉が四割に収まる、井楼は櫓を崩しやすい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武将のいない門は「◯◯城守備隊」が守る。統率はその城を預かる者の統率が映る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壊した櫓と門は、城の防備そのものを下げる（次に攻めるとき脆い）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海路を渡るとき、その海を握る家がなければ、渡る側と迎え撃つ側で海戦になる。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風と潮が速さを決め、焙烙は風上から投げねば効かない。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鉄甲船は、毛利の焙烙に焼かれた天正四年（一五七六）を境に造れるようになる。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一度の下知に九百貫、幾度も重ねてようやく一艘。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六艘を限りとする。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他家も同じように造るので、天正の海はそれまでの海とは違うものになる。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une-tekk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鉄甲船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乗り百十・耐え三百二十。火矢も焙烙も通らず、大筒を遠くまで撃つ。極めて鈍い</a:t>
            </a:r>
          </a:p>
        </p:txBody>
      </p:sp>
      <p:pic>
        <p:nvPicPr>
          <p:cNvPr id="8" name="Picture 7" descr="fune-atak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安宅船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乗り九十・耐え百三十。鈍いが落ちない。旗艦となる</a:t>
            </a:r>
          </a:p>
        </p:txBody>
      </p:sp>
      <p:pic>
        <p:nvPicPr>
          <p:cNvPr id="11" name="Picture 10" descr="fune-sek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関船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乗り四十八・耐え六十二。速さと厚みの釣り合いが取れている</a:t>
            </a:r>
          </a:p>
        </p:txBody>
      </p:sp>
      <p:pic>
        <p:nvPicPr>
          <p:cNvPr id="14" name="Picture 13" descr="fune-kobay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小早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乗り二十・耐え二十六。小さく速く、焙烙を投げて回り込む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一局が終わるのは二つ。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天下が定まるか、家が絶えるかである。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どちらのときも「終幕」が告げられる。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閉じれば盤へ戻れる。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旗の下とは、自家の城だけではない。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従属させた家、臣従を受けた家も、そのまた従属の家も、みな旗の下である。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つまり、四方を攻め潰さずとも天下は取れる。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ただし、その差は「位」に出る。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天下の位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他家が一つも残らない。すべての城を直に治めた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大成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城の七割以上を直に治め、残るは旗の下の家々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城の四割五分以上を直に治め、なお多くの家を従えている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直に治める城は多くないが、すべての家が旗の下に入った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従属・臣従で従えた家は、いつまでも旗の下にいるとは限らない。背けば天下は崩れる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当主が討たれ、あるいは捕らわれても、跡目を継ぐ者があれば家は続く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継ぐ者が一人もなく、城も無ければ、そこで家は絶える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捕虜の仕来り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崩れて盤を落ちた将は捕らわれることがある。討死ばかりにはしない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処遇は三つ。返す（身代金を取る）・召し抱える・斬る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旧主への忠誠が高い者は降らない。一門はなおさら降らない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滅んだ家からは身代金の申し出は来ない。行方は必ず記録に残る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用語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石高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こくだか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その土地が生む米の高。兵の数も、知行も、費えも、みなここから出る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銭の単位。下知の費えや運び賃はこれで数える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民忠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みんちゅう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民の心。低ければ一揆が起き、守りにも人手が要る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なじみ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その城の家中と土地との馴染み。高いほど兵が集まりやすい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城防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じょうぼう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城の備えの厚さ。城門の堅さそのものである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耐久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たいきゅう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城が囲みに耐える力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検地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けんち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一国を残らず手中にしたとき行える。石高の天井が元禄の高まで伸びる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ぐんやく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石高に応じて出さねばならぬ兵の数。この盤では抱えられる兵の上限にあたる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ちぎょう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武将に分け与える田の高。多いほど忠誠が上がり、直属を多く抱えられる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禄高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ろくだか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武将に与える扶持。毎月の費えになる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御料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ごりょう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大名の直轄領と余禄。家臣に配る知行とは別のもの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地域家臣団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ちいきかしんだん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城に属する兵。城を離れない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直属家臣団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ちょくぞくかしんだん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武将個人が抱える兵。武将とともに動く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五十人の一団。盤の上の最小の単位で、それぞれに長がいる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403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くみがしら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組の長。手柄を重ねて十人長から物頭まで昇る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6467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ものがしら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組頭の最上の階。ここに届けば武将に取り立てられる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4531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守備隊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しゅびたい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武将のいない門を守る者たち。門番、足軽小頭、駆り出された地侍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52595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いちもん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当主の血筋と、姫の婿。忠誠が高く、家督の候補にもなる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信用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しんよう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家と家のあいだに積まれるもの。足りねば相手は応じない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威信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いしん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家の格。約束を破れば下がる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じゅうぞく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しんじゅう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はたのした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従属・臣従で従えた家の総称。天下はこの範囲で数える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みつぎ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旗の下の家が主に納めるもの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ちょうりゃく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敵の内へ手を入れること。流言・引き抜き・偵察・城工作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道を借りる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みちをかりる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他家の領を通らせてもらう約束（片道・六か月）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出陣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しゅつじん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城から軍を出すこと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よりき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出陣に加わる他城・他家の軍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後詰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ごづめ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囲まれた城を救うために差し向ける軍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討って出る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うってでる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城方が門を開いて野に出ること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委任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いにん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隊の采配を任せること。任せた隊は自ら地形を読んで戦う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くずれ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士気か兵が尽きかけて隊が退くこと。立て直せば戦列に復する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潰走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かいそう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立て直せずに盤を落ちること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退き口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のきぐち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退くときに払う損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分遣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ぶんけん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隊から一部を割いて別の役に就かせること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伏兵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ふくへい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森・林・集落に伏せておく兵。知略七十八以上の将が要る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曲輪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くるわ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城の区画。外から順に門を破って進む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虎口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こぐち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門の外の囲い。寄せ手を折り曲げ、まっすぐには入れない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寄せ道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よせみち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野から城へ取りつくまでの道。ここで矢玉を浴びる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焙烙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ほうろく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船戦の焼き玉。風上から投げねば効かない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km。中央値で誤差は一.〇〇倍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史実に伝わる者。架空の者は遊びの中で世に出る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九種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慶長三年の千八百六十万石の〇.六八倍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石高の幅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1C1E22"/>
                </a:solidFill>
                <a:latin typeface="Hiragino Mincho ProN"/>
              </a:rPr>
              <a:t>2,240 〜 167,802 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宗谷の砦から一乗谷城まで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合戦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一方に並ぶ隊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32 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関ヶ原の東西両軍の備の数に拠る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一隊の兵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30,000 まで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盤の駒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十人ひとつ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五十人でひと組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戦の長さ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日暮れまで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いちばん長い城攻めで 221 秒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にまとめて配る。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導入も繋がりも要らない。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記録はブラウザに残り、書き出して他の端末へ移せる。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作りの確かさは、五十七種の試験で見張っている。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盤の帳尻（城・国・道・石高）、記録が黙って消えないこと、賽が固定されること、合戦の一つひとつの掟――いずれも数で判ずる形にしてある。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数字を変えたら、必ず測り直して書き直す。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試験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57 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盤の検めから合戦の掟まで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自動一・記録五・救出一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記録の大きさ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約 340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圧して収める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059" y="1944000"/>
            <a:ext cx="1944000" cy="19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104000"/>
            <a:ext cx="12192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0" spc="400">
                <a:solidFill>
                  <a:srgbClr val="F4F1E8"/>
                </a:solidFill>
                <a:latin typeface="Hiragino Mincho ProN"/>
              </a:rPr>
              <a:t>センゴク盤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788000"/>
            <a:ext cx="12192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600">
                <a:solidFill>
                  <a:srgbClr val="A8A296"/>
                </a:solidFill>
                <a:latin typeface="Hiragino Mincho ProN"/>
              </a:rPr>
              <a:t>SENGOKU BAN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